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1944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4C8A"/>
                </a:solidFill>
                <a:latin typeface="Calibri"/>
              </a:rPr>
              <a:t>M2 IABD — DEEP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484000"/>
            <a:ext cx="10608120" cy="14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81820"/>
                </a:solidFill>
                <a:latin typeface="Calibri"/>
              </a:rPr>
              <a:t>Onze algorithmes,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81820"/>
                </a:solidFill>
                <a:latin typeface="Calibri"/>
              </a:rPr>
              <a:t>quatre environnements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4104000"/>
            <a:ext cx="10608120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606674"/>
                </a:solidFill>
                <a:latin typeface="Calibri"/>
              </a:rPr>
              <a:t>Line World · Grid World · TicTacToe versus Random · Bobail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5148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Omar Kaabi · Awatef B. · Viet Hoang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But de l'exercice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11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0" i="0">
                <a:solidFill>
                  <a:srgbClr val="181820"/>
                </a:solidFill>
                <a:latin typeface="Calibri"/>
              </a:rPr>
              <a:t>— Tester différents algorithmes d'apprentissage par renforcement sur différents environnements.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0" i="0">
                <a:solidFill>
                  <a:srgbClr val="181820"/>
                </a:solidFill>
                <a:latin typeface="Calibri"/>
              </a:rPr>
              <a:t>— Comprendre en quoi chacun est utile, et dans quels cas l'utiliser.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3311999"/>
            <a:ext cx="10608120" cy="792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2000" y="3311999"/>
            <a:ext cx="50400" cy="792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3999" y="3463199"/>
            <a:ext cx="10104121" cy="48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181820"/>
                </a:solidFill>
                <a:latin typeface="Calibri"/>
              </a:rPr>
              <a:t>La question n'est pas « lequel est le meilleur » mais « lequel, pour quelle situation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536000"/>
            <a:ext cx="1060812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Ce que nous avons produit : </a:t>
            </a:r>
            <a:r>
              <a:rPr sz="1700" b="0">
                <a:solidFill>
                  <a:srgbClr val="181820"/>
                </a:solidFill>
              </a:rPr>
              <a:t>165 entraînements, plus de 55 millions d'épisodes joués, 11 agents × 4 environnements × 3 graines, 0 échec.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Ce que nous mesurons : </a:t>
            </a:r>
            <a:r>
              <a:rPr sz="1700" b="0">
                <a:solidFill>
                  <a:srgbClr val="181820"/>
                </a:solidFill>
              </a:rPr>
              <a:t>score de la politique obtenue, longueur des parties, temps par coup — à 1 000, 10 000, 100 000 et 1 000 000 d'épisodes.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Line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Un couloir de 5 cases. Le pion démarre au centre. Atteindre l'extrémité droite rapporte +1, l'extrémité gauche −1. Les deux bouts sont terminaux.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Le cas le plus simple possible. Il sert de test de bon fonctionnement : un agent correct doit y atteindre +1.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5 valeurs : one-hot de la position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toujours [1, 1] — les murs sont absorbants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2 actions : 0 = gauche, 1 = droite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/ −1 en bout de couloir, 0 sinon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environ 4 pas par partie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Grid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Une grille 5×5. Départ en haut à gauche. Le coin bas-droite est un but (+1), le coin haut-droite un piège (−1). Les murs sont absorbants.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Introduit un horizon long : la récompense est loin du départ, ce qui teste la propagation du crédit.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25 valeurs : one-hot de la case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toujours tout à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4 actions : haut, bas, gauche, droite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au but, −1 au piège, 0 sinon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environ 53 pas par partie — dix fois plus que les autres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TicTacToe versus Random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Morpion 3×3. L'agent joue les croix et commence. L'adversaire joue au hasard parmi les cases libres, à l'intérieur de step() : vu de l'agent, l'environnement reste un problème à un seul joueur.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Premier environnement à deux joueurs, et le premier où les algorithmes se différencient réellement.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27 valeurs : 3 plans de 9 cases — vide / agent / adversaire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1 sur les cases libres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9 actions : la case jouée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victoire, −1 défaite, 0 match nul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environ 4 coups par partie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Bobail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Plateau 5×5, 5 pions par joueur, une boule neutre au centre. Un tour = déplacer la boule d'une case, puis faire glisser un pion en ligne droite jusqu'à l'obstacle. On gagne en ramenant la boule sur sa propre ligne, ou en l'enfermant.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Notre environnement libre, et le plus riche : espace d'actions large, tour en deux phases, deux niveaux d'adversaire.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77 valeurs : 3 plans de 25 cases + la phase du tour en one-hot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moins de 5 % des 208 actions sont légales à un instant donné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208 actions : 8 directions pour la boule, puis case de départ × direction pour un pion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victoire, −1 défaite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adversaire aléatoire ou heuristique, au choix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Les onze agents, en trois familles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5840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000"/>
                <a:gridCol w="3888000"/>
                <a:gridCol w="4392000"/>
              </a:tblGrid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Famille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</a:rPr>
                        <a:t>Agents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</a:rPr>
                        <a:t>Ce que chacun ajoute au précédent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Valeur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dqn → ddqn → ddqn_er → ddqn_per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réseau cible, puis mémoire de rejeu, puis priorisation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Gradient de politique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reinforce → baseline →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retours centrés, puis baseline apprise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ppo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rapport clippé + GAE(λ) : plusieurs passes par lot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Planification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random_rollout, mcts_uct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aucun apprentissage : simulation à chaque coup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Référence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uniforme sur les coups légaux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4392000"/>
            <a:ext cx="10608120" cy="17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Un delta par agent. </a:t>
            </a:r>
            <a:r>
              <a:rPr sz="1700" b="0">
                <a:solidFill>
                  <a:srgbClr val="181820"/>
                </a:solidFill>
              </a:rPr>
              <a:t>À l'intérieur d'une famille, chacun n'ajoute qu'un mécanisme : un effet observé s'attribue donc à une cause précise.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Architecture identique partout </a:t>
            </a:r>
            <a:r>
              <a:rPr sz="1700" b="0">
                <a:solidFill>
                  <a:srgbClr val="181820"/>
                </a:solidFill>
              </a:rPr>
              <a:t>— deux couches de 128 unités, γ = 0,99. C'est ce qui rend la comparaison honnête.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PROTOCOLE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Comment nous mesurons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6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politique obtenue, jamais celle d'entraînement. </a:t>
            </a:r>
            <a:r>
              <a:rPr sz="1800" b="0">
                <a:solidFill>
                  <a:srgbClr val="181820"/>
                </a:solidFill>
              </a:rPr>
              <a:t>ε = 0, argmax au lieu d'échantillonnage, sur 200 parties. Un score mesuré avec 10 % d'exploration ne mesure rien.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Trois graines par configuration. </a:t>
            </a:r>
            <a:r>
              <a:rPr sz="1800" b="0">
                <a:solidFill>
                  <a:srgbClr val="181820"/>
                </a:solidFill>
              </a:rPr>
              <a:t>L'écart entre graines est souvent plus parlant que le score : il distingue un algorithme fiable d'un algorithme chanceux.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Une graine différente par partie d'évaluation, </a:t>
            </a:r>
            <a:r>
              <a:rPr sz="1800" b="0">
                <a:solidFill>
                  <a:srgbClr val="181820"/>
                </a:solidFill>
              </a:rPr>
              <a:t>décalée loin des graines d'entraînement : on mesure sur des parties non vues, tout en restant reproductible.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4680000"/>
            <a:ext cx="10608120" cy="792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2000" y="4680000"/>
            <a:ext cx="50400" cy="792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3999" y="4831200"/>
            <a:ext cx="10104121" cy="48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81820"/>
                </a:solidFill>
                <a:latin typeface="Calibri"/>
              </a:rPr>
              <a:t>Score : +1 victoire · −1 défaite · 0 nul ou limite de pas atteinte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Line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line_world --agent dqn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LINE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8" cy="37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8000"/>
                <a:gridCol w="540000"/>
                <a:gridCol w="864000"/>
                <a:gridCol w="1080000"/>
                <a:gridCol w="503999"/>
                <a:gridCol w="864000"/>
                <a:gridCol w="3804119"/>
                <a:gridCol w="1044000"/>
              </a:tblGrid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γ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taux d'appr.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ε début → fin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lot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mémoire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paramètre propre à l'agent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Score final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9E3B24"/>
                          </a:solidFill>
                        </a:rPr>
                        <a:t>+0,02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Double Deep Q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réseau cible /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0,0005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64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100 000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réseau cible / 500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100 000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α 0,6 · β 0,4 → 1,0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REINFORCE + baseline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retours centrés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9E3B24"/>
                          </a:solidFill>
                        </a:rPr>
                        <a:t>-0,33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REINFORCE + critique *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critique, lr 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clip 0,2 · GAE 0,95 · horizon 256 · 4 passes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20 simulations par coup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200 itérations · c = 1,41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1 000 000 d'épisodes.  Score de la politique obtenue, moyenne sur 3 graines. Architecture commune à tous : deux couches cachées de 128 unités.  * valeurs par défaut du code, cet agent n'a pas de fichier de configuration.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LINE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rentissage_line_wor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À gauche le score au fil de l'entraînement, à droite l'écart entre graines : plus il est bas, plus l'algorithme est fiable.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LINE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Environnement saturé. </a:t>
            </a:r>
            <a:r>
              <a:rPr sz="1800" b="0">
                <a:solidFill>
                  <a:srgbClr val="181820"/>
                </a:solidFill>
              </a:rPr>
              <a:t>Dix agents sur onze atteignent +1,00 dès 1 000 épisodes. Le tableau ne compare rien : la tâche est trop facile.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Une anomalie instructive. </a:t>
            </a:r>
            <a:r>
              <a:rPr sz="1800" b="0">
                <a:solidFill>
                  <a:srgbClr val="181820"/>
                </a:solidFill>
              </a:rPr>
              <a:t>REINFORCE + baseline tient +1,00 jusqu'à 100 000 épisodes puis chute à −0,33 à un million — deux graines sur trois divergent.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Ce que ça valide quand même. </a:t>
            </a:r>
            <a:r>
              <a:rPr sz="1800" b="0">
                <a:solidFill>
                  <a:srgbClr val="181820"/>
                </a:solidFill>
              </a:rPr>
              <a:t>Le protocole détecte bien un apprentissage : l'agent aléatoire reste à +0,02.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Allonger le couloir, rendre les transitions stochastiques, ou éloigner la récompense — pour que la tâche redevienne discriminante.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Grid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grid_world --agent ppo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GRID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8" cy="37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8000"/>
                <a:gridCol w="540000"/>
                <a:gridCol w="864000"/>
                <a:gridCol w="1080000"/>
                <a:gridCol w="503999"/>
                <a:gridCol w="864000"/>
                <a:gridCol w="3804119"/>
                <a:gridCol w="1044000"/>
              </a:tblGrid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γ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taux d'appr.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ε début → fin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lot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mémoire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paramètre propre à l'agent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Score final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9E3B24"/>
                          </a:solidFill>
                        </a:rPr>
                        <a:t>-0,10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Double Deep Q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réseau cible /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0,0005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64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100 000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réseau cible / 500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100 000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α 0,6 · β 0,4 → 1,0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9E3B24"/>
                          </a:solidFill>
                        </a:rPr>
                        <a:t>+0,00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REINFORCE + baseline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retours centrés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+0,67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REINFORCE + critique *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critique, lr 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clip 0,2 · GAE 0,95 · horizon 256 · 4 passes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20 simulations par coup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200 itérations · c = 1,41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100 000 épisodes — le palier 1 M coûterait 38,8 h.  Score de la politique obtenue, moyenne sur 3 graines. Architecture commune à tous : deux couches cachées de 128 unités.  * valeurs par défaut du code, cet agent n'a pas de fichier de configuration.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GRID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rentissage_grid_wor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À gauche le score au fil de l'entraînement, à droite l'écart entre graines : plus il est bas, plus l'algorithme est fiable.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GRID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Saturé à partir de 10 000 épisodes, </a:t>
            </a:r>
            <a:r>
              <a:rPr sz="1800" b="0">
                <a:solidFill>
                  <a:srgbClr val="181820"/>
                </a:solidFill>
              </a:rPr>
              <a:t>mais plus lent à converger que Line World : l'horizon est plus long, 53 pas par partie contre 4.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REINFORCE ne se stabilise pas. </a:t>
            </a:r>
            <a:r>
              <a:rPr sz="1800" b="0">
                <a:solidFill>
                  <a:srgbClr val="181820"/>
                </a:solidFill>
              </a:rPr>
              <a:t>Il oscille entre 0,00 et 0,67 quand sa variante à critique atteint et conserve +1,00 : la baseline apprise règle un problème que la baseline constante ne règle pas.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coût domine tout. </a:t>
            </a:r>
            <a:r>
              <a:rPr sz="1800" b="0">
                <a:solidFill>
                  <a:srgbClr val="181820"/>
                </a:solidFill>
              </a:rPr>
              <a:t>4 430 parties/s contre 63 000 sur Line World. Cet environnement consomme à lui seul 3,9 h de nos 6,4 h de campagne.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Ajouter des obstacles et des pièges intermédiaires, agrandir la grille, et porter le palier d'un million sur une machine plus rapide.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TicTacToe versus Random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tictactoe --agent human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TICTACTOE VERSUS RANDOM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8" cy="37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8000"/>
                <a:gridCol w="540000"/>
                <a:gridCol w="864000"/>
                <a:gridCol w="1080000"/>
                <a:gridCol w="503999"/>
                <a:gridCol w="864000"/>
                <a:gridCol w="3804119"/>
                <a:gridCol w="1044000"/>
              </a:tblGrid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γ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taux d'appr.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ε début → fin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lot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mémoire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paramètre propre à l'agent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Score final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+0,33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+0,98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Double Deep Q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réseau cible /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+0,93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0,0005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64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100 000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réseau cible / 500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+0,96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100 000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α 0,6 · β 0,4 → 1,0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+0,82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REINFORCE + baseline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retours centrés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+0,84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REINFORCE + critique *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critique, lr 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+0,81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clip 0,2 · GAE 0,95 · horizon 256 · 4 passes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+0,98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20 simulations par coup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200 itérations · c = 1,41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1 000 000 d'épisodes.  Score de la politique obtenue, moyenne sur 3 graines. Architecture commune à tous : deux couches cachées de 128 unités.  * valeurs par défaut du code, cet agent n'a pas de fichier de configuration.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TICTACTOE VERSUS RANDOM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rentissage_tictacto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À gauche le score au fil de l'entraînement, à droite l'écart entre graines : plus il est bas, plus l'algorithme est fiable.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TICTACTOE VERSUS RANDOM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premier environnement qui discrimine. </a:t>
            </a:r>
            <a:r>
              <a:rPr sz="1800" b="0">
                <a:solidFill>
                  <a:srgbClr val="181820"/>
                </a:solidFill>
              </a:rPr>
              <a:t>Les agents s'étalent de 0,82 à 1,00, contre 0,33 pour l'agent aléatoire.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famille REINFORCE plafonne à 0,82 </a:t>
            </a:r>
            <a:r>
              <a:rPr sz="1800" b="0">
                <a:solidFill>
                  <a:srgbClr val="181820"/>
                </a:solidFill>
              </a:rPr>
              <a:t>et ne progresse plus après 10 000 épisodes. PPO, même famille, atteint 0,98 : le rapport clippé est le mécanisme décisif.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classement final n'est pas un résultat. </a:t>
            </a:r>
            <a:r>
              <a:rPr sz="1800" b="0">
                <a:solidFill>
                  <a:srgbClr val="181820"/>
                </a:solidFill>
              </a:rPr>
              <a:t>Famille valeur et PPO sont entre 0,93 et 0,99, avec des écarts entre graines du même ordre. Ce qui les sépare est la stabilité : à 10 000 épisodes, 0,156 d'écart pour DQN contre 0,007 pour Double DQN.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Remplacer l'adversaire aléatoire par un adversaire compétent. Notre meilleur agent gagne 99,3 % des parties mais ignore 31,8 % des menaces adverses : il a appris à exploiter un adversaire faible, pas à jouer au morpion.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Bobail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bobail --agent ppo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8" cy="37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8000"/>
                <a:gridCol w="540000"/>
                <a:gridCol w="864000"/>
                <a:gridCol w="1080000"/>
                <a:gridCol w="503999"/>
                <a:gridCol w="864000"/>
                <a:gridCol w="2760119"/>
                <a:gridCol w="1044000"/>
                <a:gridCol w="1044000"/>
              </a:tblGrid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γ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taux d'appr.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ε début → fin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lot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mémoire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paramètre propre à l'agent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vs aléatoire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vs heuristique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9E3B24"/>
                          </a:solidFill>
                        </a:rPr>
                        <a:t>-0,02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9E3B24"/>
                          </a:solidFill>
                        </a:rPr>
                        <a:t>-1,00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9E3B24"/>
                          </a:solidFill>
                        </a:rPr>
                        <a:t>-0,63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Double Deep Q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réseau cible /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+0,80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0,0005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64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100 000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réseau cible / 500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+0,98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1,0 → 0,05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100 000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α 0,6 · β 0,4 → 1,0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+0,97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+0,97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+0,57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REINFORCE + baseline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retours centrés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9E3B24"/>
                          </a:solidFill>
                        </a:rPr>
                        <a:t>+0,09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REINFORCE + critique *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critique, lr 0,001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+0,86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0,0003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clip 0,2 · GAE 0,95 · horizon 256 · 4 passes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20 simulations par coup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9E3B24"/>
                          </a:solidFill>
                        </a:rPr>
                        <a:t>-0,69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096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81820"/>
                          </a:solidFill>
                        </a:rPr>
                        <a:t>200 itérations · c = 1,41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9E3B24"/>
                          </a:solidFill>
                        </a:rPr>
                        <a:t>-0,52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100 000 épisodes, contre deux adversaires.  Score de la politique obtenue, moyenne sur 3 graines. Architecture commune à tous : deux couches cachées de 128 unités.  * valeurs par défaut du code, cet agent n'a pas de fichier de configuration.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529999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606674"/>
                </a:solidFill>
                <a:latin typeface="Calibri"/>
              </a:rPr>
              <a:t>Adversaire aléatoire — tous les agents apprenants convergent vers +1,00</a:t>
            </a:r>
          </a:p>
        </p:txBody>
      </p:sp>
      <p:pic>
        <p:nvPicPr>
          <p:cNvPr id="6" name="Picture 5" descr="apprentissage_bob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L'environnement ne discrimine pas : c'est ce constat qui a motivé une seconde campagne contre un adversaire compétent.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529999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4C8A"/>
                </a:solidFill>
                <a:latin typeface="Calibri"/>
              </a:rPr>
              <a:t>Adversaire heuristique — les agents s'étalent de −1,00 à +1,00</a:t>
            </a:r>
          </a:p>
        </p:txBody>
      </p:sp>
      <p:pic>
        <p:nvPicPr>
          <p:cNvPr id="6" name="Picture 5" descr="apprentissage_bob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Même code, même protocole, mêmes hyperparamètres : seul l'adversaire change.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L'adversaire change tout. </a:t>
            </a:r>
            <a:r>
              <a:rPr sz="1800" b="0">
                <a:solidFill>
                  <a:srgbClr val="181820"/>
                </a:solidFill>
              </a:rPr>
              <a:t>Contre l'aléatoire, dix agents sur onze atteignent +1,00 : aucune comparaison possible. Contre l'heuristique, ils s'étalent de −1,00 à +1,00.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planification s'effondre. </a:t>
            </a:r>
            <a:r>
              <a:rPr sz="1800" b="0">
                <a:solidFill>
                  <a:srgbClr val="181820"/>
                </a:solidFill>
              </a:rPr>
              <a:t>MCTS passe de +1,00 à −0,52, Random Rollout à −0,69 — pour 66 ms par coup contre 0,028 ms à PPO, soit 2 400 fois plus cher.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PPO gagne, et ne dégrade pas. </a:t>
            </a:r>
            <a:r>
              <a:rPr sz="1800" b="0">
                <a:solidFill>
                  <a:srgbClr val="181820"/>
                </a:solidFill>
              </a:rPr>
              <a:t>+1,00 contre les deux adversaires. Deep Q simple échoue à −0,63 là où ses trois variantes réussissent : c'est la meilleure preuve de l'utilité du réseau cible et du rejeu.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Porter le palier d'un million, et opposer les agents à un adversaire de force croissante — voire à eux-mêmes en self-play — pour mesurer une généralisation et non une performance contre un adversaire donné.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l'étude établit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46800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Trois environnements sur quatre sont saturés. </a:t>
            </a:r>
            <a:r>
              <a:rPr sz="1800" b="0">
                <a:solidFill>
                  <a:srgbClr val="181820"/>
                </a:solidFill>
              </a:rPr>
              <a:t>Seuls TicTacToe et Bobail contre un adversaire compétent autorisent une comparaison. C'est un résultat sur le protocole autant que sur les algorithmes.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Sur une tâche simple, cinq algorithmes convergent au même niveau. </a:t>
            </a:r>
            <a:r>
              <a:rPr sz="1800" b="0">
                <a:solidFill>
                  <a:srgbClr val="181820"/>
                </a:solidFill>
              </a:rPr>
              <a:t>Ce qui les sépare est la fiabilité de la convergence, lisible dans l'écart entre graines à mi-entraînement, et non le score final.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recherche sans apprentissage a une limite mesurable. </a:t>
            </a:r>
            <a:r>
              <a:rPr sz="1800" b="0">
                <a:solidFill>
                  <a:srgbClr val="181820"/>
                </a:solidFill>
              </a:rPr>
              <a:t>MCTS et Random Rollout gagnent contre un adversaire faible, perdent contre un adversaire compétent, et coûtent 2 400 fois plus par décision.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Dans la famille gradient de politique, le rapport clippé est décisif. </a:t>
            </a:r>
            <a:r>
              <a:rPr sz="1800" b="0">
                <a:solidFill>
                  <a:srgbClr val="181820"/>
                </a:solidFill>
              </a:rPr>
              <a:t>0,82 → 0,98 sur TicTacToe, +0,57 → +1,00 sur Bobail contre l'heuristique.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ET APRÈS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Ouverture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46800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 adversaire de force croissante. </a:t>
            </a:r>
            <a:r>
              <a:rPr sz="1800" b="0">
                <a:solidFill>
                  <a:srgbClr val="181820"/>
                </a:solidFill>
              </a:rPr>
              <a:t>Nos agents sont mesurés contre un adversaire donné. Les opposer à une série d'adversaires de plus en plus forts mesurerait une généralisation, pas une performance.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self-play. </a:t>
            </a:r>
            <a:r>
              <a:rPr sz="1800" b="0">
                <a:solidFill>
                  <a:srgbClr val="181820"/>
                </a:solidFill>
              </a:rPr>
              <a:t>Faire jouer un agent contre ses propres versions antérieures supprime la question du choix de l'adversaire.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Les algorithmes optionnels du sujet. </a:t>
            </a:r>
            <a:r>
              <a:rPr sz="1800" b="0">
                <a:solidFill>
                  <a:srgbClr val="181820"/>
                </a:solidFill>
              </a:rPr>
              <a:t>Expert Apprentice, AlphaZero et MuZero combinent apprentissage et recherche — exactement l'arbitrage que nos mesures mettent en évidence sans le résoudre.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 environnement volontairement difficile. </a:t>
            </a:r>
            <a:r>
              <a:rPr sz="1800" b="0">
                <a:solidFill>
                  <a:srgbClr val="181820"/>
                </a:solidFill>
              </a:rPr>
              <a:t>Nos trois environnements de test saturent. Un cas plus dur ferait ressortir des écarts que nos mesures ne peuvent pas voir.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808000"/>
            <a:ext cx="1060812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181820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4320000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606674"/>
                </a:solidFill>
                <a:latin typeface="Calibri"/>
              </a:rPr>
              <a:t>165 entraînements · 11 agents · 4 environnements · 3 graines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